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9"/>
    <a:srgbClr val="EBF3FB"/>
    <a:srgbClr val="2E75B6"/>
    <a:srgbClr val="F0F4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E79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F4E79"/>
                </a:solidFill>
                <a:latin typeface="Arial"/>
              </a:rPr>
              <a:t>Monthly Orders (Pre-Crisis vs Crisis)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 Crisis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17450</c:v>
                </c:pt>
                <c:pt idx="1">
                  <c:v>16960</c:v>
                </c:pt>
                <c:pt idx="2">
                  <c:v>17530</c:v>
                </c:pt>
                <c:pt idx="3">
                  <c:v>16160</c:v>
                </c:pt>
                <c:pt idx="4">
                  <c:v>16850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38-478B-839F-D9F0C16E256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Crisis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6910</c:v>
                </c:pt>
                <c:pt idx="6">
                  <c:v>6560</c:v>
                </c:pt>
                <c:pt idx="7">
                  <c:v>6340</c:v>
                </c:pt>
                <c:pt idx="8">
                  <c:v>6510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E38-478B-839F-D9F0C16E25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E79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F4E79"/>
                </a:solidFill>
                <a:latin typeface="Arial"/>
              </a:rPr>
              <a:t>Top 5 Cities — Order Decline %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Decline %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Chennai</c:v>
                </c:pt>
                <c:pt idx="1">
                  <c:v>Kolkata</c:v>
                </c:pt>
                <c:pt idx="2">
                  <c:v>Bengaluru</c:v>
                </c:pt>
                <c:pt idx="3">
                  <c:v>Hyderabad</c:v>
                </c:pt>
                <c:pt idx="4">
                  <c:v>Ahmedabad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69.98</c:v>
                </c:pt>
                <c:pt idx="1">
                  <c:v>69.19</c:v>
                </c:pt>
                <c:pt idx="2">
                  <c:v>69.17</c:v>
                </c:pt>
                <c:pt idx="3">
                  <c:v>68.92</c:v>
                </c:pt>
                <c:pt idx="4">
                  <c:v>68.83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FC-4B62-89EC-365D8274AF0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E79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F4E79"/>
                </a:solidFill>
                <a:latin typeface="Arial"/>
              </a:rPr>
              <a:t>Cancellation Rate by City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 Crisis %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Ahmedabad</c:v>
                </c:pt>
                <c:pt idx="1">
                  <c:v>Bengaluru</c:v>
                </c:pt>
                <c:pt idx="2">
                  <c:v>Chennai</c:v>
                </c:pt>
                <c:pt idx="3">
                  <c:v>Delhi</c:v>
                </c:pt>
                <c:pt idx="4">
                  <c:v>Hyderabad</c:v>
                </c:pt>
                <c:pt idx="5">
                  <c:v>Kolkata</c:v>
                </c:pt>
                <c:pt idx="6">
                  <c:v>Mumbai</c:v>
                </c:pt>
                <c:pt idx="7">
                  <c:v>Pune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6.08</c:v>
                </c:pt>
                <c:pt idx="1">
                  <c:v>6.17</c:v>
                </c:pt>
                <c:pt idx="2">
                  <c:v>6.07</c:v>
                </c:pt>
                <c:pt idx="3">
                  <c:v>6.16</c:v>
                </c:pt>
                <c:pt idx="4">
                  <c:v>6.1</c:v>
                </c:pt>
                <c:pt idx="5">
                  <c:v>5.86</c:v>
                </c:pt>
                <c:pt idx="6">
                  <c:v>5.87</c:v>
                </c:pt>
                <c:pt idx="7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82-4F88-8B2D-C1C80A94E1F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Crisis %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Ahmedabad</c:v>
                </c:pt>
                <c:pt idx="1">
                  <c:v>Bengaluru</c:v>
                </c:pt>
                <c:pt idx="2">
                  <c:v>Chennai</c:v>
                </c:pt>
                <c:pt idx="3">
                  <c:v>Delhi</c:v>
                </c:pt>
                <c:pt idx="4">
                  <c:v>Hyderabad</c:v>
                </c:pt>
                <c:pt idx="5">
                  <c:v>Kolkata</c:v>
                </c:pt>
                <c:pt idx="6">
                  <c:v>Mumbai</c:v>
                </c:pt>
                <c:pt idx="7">
                  <c:v>Pune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13.03</c:v>
                </c:pt>
                <c:pt idx="1">
                  <c:v>11.76</c:v>
                </c:pt>
                <c:pt idx="2">
                  <c:v>12.19</c:v>
                </c:pt>
                <c:pt idx="3">
                  <c:v>11.05</c:v>
                </c:pt>
                <c:pt idx="4">
                  <c:v>12.09</c:v>
                </c:pt>
                <c:pt idx="5">
                  <c:v>11.97</c:v>
                </c:pt>
                <c:pt idx="6">
                  <c:v>12.35</c:v>
                </c:pt>
                <c:pt idx="7">
                  <c:v>11.62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582-4F88-8B2D-C1C80A94E1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E79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F4E79"/>
                </a:solidFill>
                <a:latin typeface="Arial"/>
              </a:rPr>
              <a:t>Average Rating by Month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 Crisis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4.5999999999999996</c:v>
                </c:pt>
                <c:pt idx="1">
                  <c:v>4.4000000000000004</c:v>
                </c:pt>
                <c:pt idx="2">
                  <c:v>4.7</c:v>
                </c:pt>
                <c:pt idx="3">
                  <c:v>4.3</c:v>
                </c:pt>
                <c:pt idx="4">
                  <c:v>4.5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E9-47F3-BD03-7826723CFEE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Crisis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2.6</c:v>
                </c:pt>
                <c:pt idx="6">
                  <c:v>2.7</c:v>
                </c:pt>
                <c:pt idx="7">
                  <c:v>2.4</c:v>
                </c:pt>
                <c:pt idx="8">
                  <c:v>2.2999999999999998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6E9-47F3-BD03-7826723CFEE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E79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F4E79"/>
                </a:solidFill>
                <a:latin typeface="Arial"/>
              </a:rPr>
              <a:t>Monthly Revenue (₹M)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 Crisis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5.76</c:v>
                </c:pt>
                <c:pt idx="1">
                  <c:v>5.59</c:v>
                </c:pt>
                <c:pt idx="2">
                  <c:v>5.81</c:v>
                </c:pt>
                <c:pt idx="3">
                  <c:v>5.36</c:v>
                </c:pt>
                <c:pt idx="4">
                  <c:v>5.56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70-4E23-B98D-45140144C00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Crisis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2.15</c:v>
                </c:pt>
                <c:pt idx="6">
                  <c:v>2.0299999999999998</c:v>
                </c:pt>
                <c:pt idx="7">
                  <c:v>1.98</c:v>
                </c:pt>
                <c:pt idx="8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470-4E23-B98D-45140144C00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E79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F4E79"/>
                </a:solidFill>
                <a:latin typeface="Arial"/>
              </a:rPr>
              <a:t>Loyal Customer Churn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Loyalty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A59-438E-9D7C-B2825E208C81}"/>
              </c:ext>
            </c:extLst>
          </c:dPt>
          <c:dPt>
            <c:idx val="1"/>
            <c:bubble3D val="0"/>
            <c:spPr>
              <a:solidFill>
                <a:srgbClr val="2E75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A59-438E-9D7C-B2825E208C8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A59-438E-9D7C-B2825E208C8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A59-438E-9D7C-B2825E208C8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Churned (49)</c:v>
                </c:pt>
                <c:pt idx="1">
                  <c:v>Retained (9)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</c:v>
                </c:pt>
                <c:pt idx="1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A59-438E-9D7C-B2825E208C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95D4FC7-AB2A-EEDE-7BC4-FB6750D937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2E119A-E81B-4350-7EFE-0B97365098D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8484BB-CDD4-40CF-AFEE-33E3D9E40264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D9B2FD-9BFD-DC56-D14C-2A3C69ED707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60B15C-BBF7-7622-3B9A-1CC508E5012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5A94B1-161F-410A-954E-36E92C1D8F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78326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829052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QuickBite Crisis Analysis 2025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Collapse to Recovery — A Data-Driven Investigation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January 2025 – September 2025  |  Python  •  Pandas  •  Power BI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743200" cy="4572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8755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 order decline in 4 months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 revenue collapse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 doubled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ratings drop to 2.5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60120"/>
            <a:ext cx="2743200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98755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55448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crisis depth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root causes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customer impact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recovery recommendations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60120"/>
            <a:ext cx="2743200" cy="457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98755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155448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tables | 149K orders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107K customers | 19,983 restaurants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cities | Jan–Sep 2025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Pandas + Power BI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457200" y="1702678"/>
            <a:ext cx="1920240" cy="2045970"/>
          </a:xfrm>
          <a:prstGeom prst="rect">
            <a:avLst/>
          </a:prstGeom>
          <a:solidFill>
            <a:srgbClr val="2E75B6"/>
          </a:solidFill>
          <a:ln w="12700">
            <a:solidFill>
              <a:schemeClr val="tx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830585"/>
            <a:ext cx="1920240" cy="14151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69%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064299"/>
            <a:ext cx="1920240" cy="5929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Orders Declined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1702678"/>
            <a:ext cx="1920240" cy="2045970"/>
          </a:xfrm>
          <a:prstGeom prst="rect">
            <a:avLst/>
          </a:prstGeom>
          <a:solidFill>
            <a:srgbClr val="2E75B6"/>
          </a:solidFill>
          <a:ln w="12700">
            <a:solidFill>
              <a:schemeClr val="tx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1895899"/>
            <a:ext cx="1920240" cy="13498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06040" y="2991728"/>
            <a:ext cx="1920240" cy="665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702678"/>
            <a:ext cx="1920240" cy="2045970"/>
          </a:xfrm>
          <a:prstGeom prst="rect">
            <a:avLst/>
          </a:prstGeom>
          <a:solidFill>
            <a:srgbClr val="2E75B6"/>
          </a:solidFill>
          <a:ln w="12700">
            <a:solidFill>
              <a:schemeClr val="tx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830585"/>
            <a:ext cx="1920240" cy="14151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2.01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54880" y="3115100"/>
            <a:ext cx="1920240" cy="5421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Rating Drop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03720" y="1702678"/>
            <a:ext cx="1920240" cy="2045970"/>
          </a:xfrm>
          <a:prstGeom prst="rect">
            <a:avLst/>
          </a:prstGeom>
          <a:solidFill>
            <a:srgbClr val="2E75B6"/>
          </a:solidFill>
          <a:ln w="12700">
            <a:solidFill>
              <a:schemeClr val="tx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03720" y="1895900"/>
            <a:ext cx="192024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903720" y="3064299"/>
            <a:ext cx="1920240" cy="5929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200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429A3019-D0FE-7239-D590-E346A24817C2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5B6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CCF5257-1D47-D3D5-BBA0-E84690B2660D}"/>
              </a:ext>
            </a:extLst>
          </p:cNvPr>
          <p:cNvSpPr/>
          <p:nvPr/>
        </p:nvSpPr>
        <p:spPr>
          <a:xfrm>
            <a:off x="457200" y="146594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/>
              <a:t>Key </a:t>
            </a:r>
            <a:r>
              <a:rPr lang="en-IN" sz="4000" b="1" dirty="0"/>
              <a:t>Insights From Analysis </a:t>
            </a:r>
            <a:endParaRPr lang="en-US" sz="4000" b="1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02F3464-C0E9-E5E1-DF1E-3CE153807AFD}"/>
              </a:ext>
            </a:extLst>
          </p:cNvPr>
          <p:cNvSpPr/>
          <p:nvPr/>
        </p:nvSpPr>
        <p:spPr>
          <a:xfrm>
            <a:off x="274320" y="4251960"/>
            <a:ext cx="8595360" cy="64008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49388D32-7F36-6295-6DB2-0C2D92030F4B}"/>
              </a:ext>
            </a:extLst>
          </p:cNvPr>
          <p:cNvSpPr/>
          <p:nvPr/>
        </p:nvSpPr>
        <p:spPr>
          <a:xfrm>
            <a:off x="457200" y="42793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Severe</a:t>
            </a:r>
            <a:r>
              <a:rPr lang="en-US" sz="1100" b="1" dirty="0">
                <a:solidFill>
                  <a:srgbClr val="1F4E79"/>
                </a:solidFill>
              </a:rPr>
              <a:t> </a:t>
            </a:r>
            <a:r>
              <a:rPr lang="en-US" sz="1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r>
              <a:rPr lang="en-US" sz="1100" b="1" dirty="0">
                <a:solidFill>
                  <a:srgbClr val="1F4E79"/>
                </a:solidFill>
              </a:rPr>
              <a:t> </a:t>
            </a:r>
            <a:r>
              <a:rPr lang="en-US" sz="1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</a:t>
            </a:r>
            <a:r>
              <a:rPr lang="en-US" sz="1100" dirty="0">
                <a:solidFill>
                  <a:srgbClr val="1F4E79"/>
                </a:solidFill>
              </a:rPr>
              <a:t> </a:t>
            </a:r>
            <a:r>
              <a:rPr lang="en-US" sz="1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100" dirty="0">
                <a:solidFill>
                  <a:srgbClr val="1F4E79"/>
                </a:solidFill>
              </a:rPr>
              <a:t>69% orders declined and 71% revenue lost, driving customer ratings down to 2.01 and triggering an alarming 84% churn rate.</a:t>
            </a:r>
          </a:p>
        </p:txBody>
      </p:sp>
    </p:spTree>
    <p:extLst>
      <p:ext uri="{BB962C8B-B14F-4D97-AF65-F5344CB8AC3E}">
        <p14:creationId xmlns:p14="http://schemas.microsoft.com/office/powerpoint/2010/main" val="2216861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&amp; Q2 — Monthly Orders &amp; City Decline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14400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760720" y="914400"/>
          <a:ext cx="3200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4251960"/>
            <a:ext cx="8595360" cy="64008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42793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Crisis began June 2025 — orders dropped 69% in 4 months. All 8 cities declined uniformly (~69%), confirming a platform-wide crisis, not city-specific.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&amp; Q4 — Restaurant Decline &amp; Cancellation Rate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029200" cy="4114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3268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Restaurants — Crisis Impact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25880"/>
          <a:ext cx="4754880" cy="28346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Restaurant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 Crisis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Decline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Punjabi Express Central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70.73%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 &amp; Crispy Biryani Heaven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58.90%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 Tandoor Heaven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73.75%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Thindi Mane Pizza Cafe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68.83%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 &amp; Crispy Kitchen Clouds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53.97%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Annapurna Mess Corner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65.15%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Madras Delights Central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58.06%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 &amp; Crispy Darshini Clouds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71.21%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Spicy House Hub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63.93%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7" name="Chart 0"/>
          <p:cNvGraphicFramePr/>
          <p:nvPr/>
        </p:nvGraphicFramePr>
        <p:xfrm>
          <a:off x="5486400" y="914400"/>
          <a:ext cx="34747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251960"/>
            <a:ext cx="8595360" cy="64008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" y="42793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Cancellation rate nearly doubled (6% → 12%). Hot &amp; Crispy and Thindi Mane chains hit hardest. Average only 7-8 orders per restaurant across 19,983 outlets.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&amp; Q6 — Delivery SLA &amp; Ratings Fluctuation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1920240" cy="1097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39.52 mins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Pre-Crisis Avg Delivery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23160" y="91440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23160" y="914400"/>
            <a:ext cx="1920240" cy="10972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60.12 mins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23160" y="1463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Avg Delivery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91440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914400"/>
            <a:ext cx="1920240" cy="1097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77.26%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1463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 Pre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20840" y="91440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20840" y="914400"/>
            <a:ext cx="1920240" cy="10972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17.30%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20840" y="1463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 Crisis</a:t>
            </a:r>
            <a:endParaRPr lang="en-US" sz="9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274320" y="1920240"/>
          <a:ext cx="859536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Shape 18"/>
          <p:cNvSpPr/>
          <p:nvPr/>
        </p:nvSpPr>
        <p:spPr>
          <a:xfrm>
            <a:off x="274320" y="4251960"/>
            <a:ext cx="8595360" cy="64008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42793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SLA compliance collapsed from 77% to 17%. June saw a 1.91 rating drop in a single month. Distance had zero correlation (-0.001) with delays — internal operational failure confirmed.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&amp; Q8 — Sentiment &amp; Revenue Impact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840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326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Negative Keywords in Crisis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98448"/>
          <a:ext cx="3931920" cy="207264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Complaint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 quality is not good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 safety issue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 food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Portion size smaller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worth the 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Packaging was poor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 taste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Chart 0"/>
          <p:cNvGraphicFramePr/>
          <p:nvPr/>
        </p:nvGraphicFramePr>
        <p:xfrm>
          <a:off x="4663440" y="914400"/>
          <a:ext cx="42062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251960"/>
            <a:ext cx="8595360" cy="64008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" y="42793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Food safety was #1 complaint. Revenue collapsed 71% (₹37.62M → ₹10.94M). Avg order value dropped ₹330 → ₹309 — customers shifted to survival orders.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 &amp; Q10 — Loyalty Impact &amp; Customer Lifetime Decline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1920240" cy="1097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23160" y="91440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23160" y="914400"/>
            <a:ext cx="1920240" cy="10972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423160" y="1463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91440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914400"/>
            <a:ext cx="1920240" cy="10972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84.48%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1463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20840" y="91440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20840" y="914400"/>
            <a:ext cx="1920240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20840" y="1463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High-Rated Churned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1920240"/>
            <a:ext cx="41148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1920240"/>
            <a:ext cx="4114800" cy="4114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193852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5% Customer Patterns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2377440"/>
            <a:ext cx="37490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4,342 high-value customers (≥ ₹923.45 spend)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80.98% churn among top 5% customers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Ahmedabad &amp; Kolkata — 96% order decline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&amp; Healthy cuisine — 96% order drop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delay increased 286% for top customers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vs delay correlation: -0.001 (no link)</a:t>
            </a:r>
            <a:endParaRPr lang="en-US" sz="110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4663440" y="1737360"/>
          <a:ext cx="42062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hape 22"/>
          <p:cNvSpPr/>
          <p:nvPr/>
        </p:nvSpPr>
        <p:spPr>
          <a:xfrm>
            <a:off x="274320" y="4251960"/>
            <a:ext cx="8595360" cy="64008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42793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84% of loyal customers abandoned QuickBite. 26 high-rated churned customers = highest win-back potential. Even premium customers completely lost confidence.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&amp; S2 — External Factors &amp; Competitor Comparison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4114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3268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— Why CAC Tripled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signups collapsed 94% (20.39K → 1.13K)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ad costs rose ~60% industry-wide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CPC: ₹9–₹50 | Google CPC: ₹5–₹50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outbid QuickBite for ad space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reviews dried up organic acquisition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Monsoon reduced rider availability (Jul–Sep)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206240" cy="4114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93268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— Competitor Comparison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325880"/>
          <a:ext cx="4389120" cy="13716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Swiggy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Zomato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QuickBite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Growth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↑54% YoY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↑183% YoY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↓71%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Volume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↑34% MTUs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↑21.3% GOV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↓69%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Growing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Growing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Collapsing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22.9M → 24.3M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107K → 35K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274320" y="4251960"/>
            <a:ext cx="8595360" cy="640080"/>
          </a:xfrm>
          <a:prstGeom prst="rect">
            <a:avLst/>
          </a:prstGeom>
          <a:solidFill>
            <a:srgbClr val="FFE5E5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2793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While Swiggy grew 34% and Zomato grew 183%, QuickBite collapsed 71%. This was NOT an industry problem — it was QuickBite-specific!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S3, S4 &amp; S5 — Recovery Strategies, Restaurant Risk &amp; Reactivation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743200" cy="4114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326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— Trust Rebuild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Food Safety Audits — most effective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FSSAI Partnerships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 Cashbacks (short-term only)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Transparency: hygiene ratings + QR codes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models boost retention 47%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14400"/>
            <a:ext cx="2743200" cy="4114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9326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— Restaurant Risk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1417320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Kitchen churn: 94.96%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churn: 88.36%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Kitchens most vulnerable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physical fallback for cloud kitchens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FSSAI before reinstatement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14400"/>
            <a:ext cx="2743200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9326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— Lapsed Customers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1417320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26 high-rated churned first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AOV (&gt;₹500): 45% return rate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&gt; generic offers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+ Email: 54% higher conversion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discount recovers 20–55% users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Details — Priority Cities, Behavior Shifts &amp; Feedback Trends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743200" cy="4114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326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Cities — Long-term Risk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Ahmedabad: 98.59% customer churn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Kolkata: 98.50% customer churn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Pune: 98.48% customer churn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Hyderabad: 98.20% customer churn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cities need IMMEDIATE recovery focus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14400"/>
            <a:ext cx="2743200" cy="4114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9326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Shifts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1417320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Pre-crisis avg order: ₹330.57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avg order: ₹309.39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₹21 drop per order (-6.3%)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to cheaper survival orders confirmed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loss drove revenue drop, not pricing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14400"/>
            <a:ext cx="2743200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9326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Trends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1417320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flipped negative in June 2025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Pre-crisis score: 0.65–0.87 (positive)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score: -0.15 to -0.35 (negative)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exactly with delivery SLA failure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= leading crisis indicator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RECOMMENDATIONS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QuickBite's Recovery Strategy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8595360" cy="658368"/>
          </a:xfrm>
          <a:prstGeom prst="rect">
            <a:avLst/>
          </a:prstGeom>
          <a:solidFill>
            <a:srgbClr val="162447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502920" cy="65836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8872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22529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FSSAI Food Safety Audits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51790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restaurants must pass FSSAI certification before reinstatement. Food safety was #1 complaint (1,962 reviews). Cloud kitchens (94.96% churn) prioritised first.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938528"/>
            <a:ext cx="8595360" cy="658368"/>
          </a:xfrm>
          <a:prstGeom prst="rect">
            <a:avLst/>
          </a:prstGeom>
          <a:solidFill>
            <a:srgbClr val="162447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938528"/>
            <a:ext cx="502920" cy="65836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938528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197510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 Top 26 Loyal Customers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26771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26 high-rated churned customers with personalised offers. These had 4.5+ ratings before crisis — highest return probability per research.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688336"/>
            <a:ext cx="8595360" cy="658368"/>
          </a:xfrm>
          <a:prstGeom prst="rect">
            <a:avLst/>
          </a:prstGeom>
          <a:solidFill>
            <a:srgbClr val="162447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688336"/>
            <a:ext cx="502920" cy="65836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688336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27249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Delivery Operations in Top Cities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301752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Ahmedabad, Hyderabad, Mumbai — highest delay and cancellation rates. SLA compliance must recover from 17% to 77%+ pre-crisis level.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438144"/>
            <a:ext cx="8595360" cy="658368"/>
          </a:xfrm>
          <a:prstGeom prst="rect">
            <a:avLst/>
          </a:prstGeom>
          <a:solidFill>
            <a:srgbClr val="162447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438144"/>
            <a:ext cx="502920" cy="65836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438144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34747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Subscription Loyalty Program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76732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One / Zomato Gold model increases order frequency 60%. Target top 5% customers (₹923+ spend) with premium membership benefits.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4187952"/>
            <a:ext cx="8595360" cy="658368"/>
          </a:xfrm>
          <a:prstGeom prst="rect">
            <a:avLst/>
          </a:prstGeom>
          <a:solidFill>
            <a:srgbClr val="162447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4187952"/>
            <a:ext cx="502920" cy="65836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187952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422452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Ratings as Early Warning System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451713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monthly avg rating in real-time. June's 1.91 single-month drop was the clearest early signal — act before ratings fall below 3.5.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QuickBite Crisis Analysis 2025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Analysed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34640" y="3017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834640" y="3611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Covered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3017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754880" y="3611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Answered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75120" y="3017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675120" y="3611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  •  Pandas  •  Power BI  •  Jupyter Notebook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1163</Words>
  <Application>Microsoft Office PowerPoint</Application>
  <PresentationFormat>On-screen Show (16:9)</PresentationFormat>
  <Paragraphs>236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QuickBite Crisis Analysis 2025</dc:title>
  <dc:subject>PptxGenJS Presentation</dc:subject>
  <dc:creator>PptxGenJS</dc:creator>
  <cp:lastModifiedBy>Aditya Dangwal</cp:lastModifiedBy>
  <cp:revision>4</cp:revision>
  <dcterms:created xsi:type="dcterms:W3CDTF">2026-05-23T02:38:47Z</dcterms:created>
  <dcterms:modified xsi:type="dcterms:W3CDTF">2026-06-02T06:13:19Z</dcterms:modified>
</cp:coreProperties>
</file>